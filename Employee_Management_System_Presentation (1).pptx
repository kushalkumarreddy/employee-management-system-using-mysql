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9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93050"/>
                </a:solidFill>
                <a:latin typeface="Aptos Display"/>
              </a:defRPr>
            </a:pPr>
            <a:r>
              <a:t>EMPLOYEE MANAGEMENT SYSTEM</a:t>
            </a:r>
          </a:p>
          <a:p>
            <a:pPr>
              <a:spcBef>
                <a:spcPts val="1000"/>
              </a:spcBef>
              <a:defRPr sz="2100">
                <a:solidFill>
                  <a:srgbClr val="3465A4"/>
                </a:solidFill>
                <a:latin typeface="Aptos"/>
              </a:defRPr>
            </a:pPr>
            <a:r>
              <a:t>MySQL SQL Project</a:t>
            </a:r>
          </a:p>
        </p:txBody>
      </p:sp>
      <p:sp>
        <p:nvSpPr>
          <p:cNvPr id="4" name="Can 3"/>
          <p:cNvSpPr/>
          <p:nvPr/>
        </p:nvSpPr>
        <p:spPr>
          <a:xfrm>
            <a:off x="9052560" y="1234440"/>
            <a:ext cx="1920240" cy="2468880"/>
          </a:xfrm>
          <a:prstGeom prst="can">
            <a:avLst/>
          </a:prstGeom>
          <a:solidFill>
            <a:srgbClr val="E8F1FA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281160" y="1600200"/>
            <a:ext cx="146304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0" y="1673352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193050"/>
                </a:solidFill>
                <a:latin typeface="Aptos"/>
              </a:defRPr>
            </a:pPr>
            <a:r>
              <a:t>DEPARTMENTS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81160" y="2331720"/>
            <a:ext cx="146304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0" y="2404872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193050"/>
                </a:solidFill>
                <a:latin typeface="Aptos"/>
              </a:defRPr>
            </a:pPr>
            <a:r>
              <a:t>EMPLOYEES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81160" y="3063240"/>
            <a:ext cx="146304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0" y="3136392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193050"/>
                </a:solidFill>
                <a:latin typeface="Aptos"/>
              </a:defRPr>
            </a:pPr>
            <a:r>
              <a:t>PROJECTS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4069080"/>
            <a:ext cx="713232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3050"/>
                </a:solidFill>
                <a:latin typeface="Aptos"/>
              </a:defRPr>
            </a:pPr>
            <a:r>
              <a:t>Team Members</a:t>
            </a:r>
          </a:p>
          <a:p>
            <a:pPr>
              <a:spcAft>
                <a:spcPts val="300"/>
              </a:spcAft>
              <a:defRPr sz="1400">
                <a:solidFill>
                  <a:srgbClr val="232A32"/>
                </a:solidFill>
                <a:latin typeface="Aptos"/>
              </a:defRPr>
            </a:pPr>
            <a:r>
              <a:t>Bharat J</a:t>
            </a:r>
          </a:p>
          <a:p>
            <a:pPr>
              <a:spcAft>
                <a:spcPts val="300"/>
              </a:spcAft>
              <a:defRPr sz="1400">
                <a:solidFill>
                  <a:srgbClr val="232A32"/>
                </a:solidFill>
                <a:latin typeface="Aptos"/>
              </a:defRPr>
            </a:pPr>
            <a:r>
              <a:t>Kushal K</a:t>
            </a:r>
          </a:p>
          <a:p>
            <a:pPr>
              <a:spcAft>
                <a:spcPts val="300"/>
              </a:spcAft>
              <a:defRPr sz="1400">
                <a:solidFill>
                  <a:srgbClr val="232A32"/>
                </a:solidFill>
                <a:latin typeface="Aptos"/>
              </a:defRPr>
            </a:pPr>
            <a:r>
              <a:t>Saiteja 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5669280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27C"/>
                </a:solidFill>
                <a:latin typeface="Aptos"/>
              </a:defRPr>
            </a:pPr>
            <a:r>
              <a:t>3-table database project designed for SQL learning, review, and JDBC integration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9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3050"/>
                </a:solidFill>
                <a:latin typeface="Aptos Display"/>
              </a:defRPr>
            </a:pPr>
            <a:r>
              <a:t>1.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27C"/>
                </a:solidFill>
                <a:latin typeface="Aptos"/>
              </a:defRPr>
            </a:pPr>
            <a:r>
              <a:t>Project purpose and database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6492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Implements an Employee Management System using MySQL.</a:t>
            </a:r>
          </a:p>
          <a:p>
            <a:pPr>
              <a:spcAft>
                <a:spcPts val="9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Organizes employee, department, and project information in a relational database.</a:t>
            </a:r>
          </a:p>
          <a:p>
            <a:pPr>
              <a:spcAft>
                <a:spcPts val="9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Demonstrates practical SQL from database creation to advanced querying.</a:t>
            </a:r>
          </a:p>
          <a:p>
            <a:pPr>
              <a:spcAft>
                <a:spcPts val="9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Designed for SQL learning, GitHub review, and future JDBC integration.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43800" y="1417320"/>
            <a:ext cx="35661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543800" y="1417320"/>
            <a:ext cx="73152" cy="1325880"/>
          </a:xfrm>
          <a:prstGeom prst="rect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44968" y="1581912"/>
            <a:ext cx="3200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3050"/>
                </a:solidFill>
                <a:latin typeface="Aptos"/>
              </a:defRPr>
            </a:pPr>
            <a:r>
              <a:t>Departments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44968" y="1993392"/>
            <a:ext cx="3200400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A32"/>
                </a:solidFill>
                <a:latin typeface="Aptos"/>
              </a:defRPr>
            </a:pPr>
            <a:r>
              <a:t>Department details, location, budget, and creation date.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2926080"/>
            <a:ext cx="35661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543800" y="2926080"/>
            <a:ext cx="73152" cy="1325880"/>
          </a:xfrm>
          <a:prstGeom prst="rect">
            <a:avLst/>
          </a:prstGeom>
          <a:solidFill>
            <a:srgbClr val="367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44968" y="3090672"/>
            <a:ext cx="3200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3050"/>
                </a:solidFill>
                <a:latin typeface="Aptos"/>
              </a:defRPr>
            </a:pPr>
            <a:r>
              <a:t>Employees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44968" y="3502152"/>
            <a:ext cx="3200400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A32"/>
                </a:solidFill>
                <a:latin typeface="Aptos"/>
              </a:defRPr>
            </a:pPr>
            <a:r>
              <a:t>Personal/job data, salary, department, and manager relationship.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4434840"/>
            <a:ext cx="35661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543800" y="4434840"/>
            <a:ext cx="73152" cy="1325880"/>
          </a:xfrm>
          <a:prstGeom prst="rect">
            <a:avLst/>
          </a:prstGeom>
          <a:solidFill>
            <a:srgbClr val="C47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44968" y="4599431"/>
            <a:ext cx="3200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3050"/>
                </a:solidFill>
                <a:latin typeface="Aptos"/>
              </a:defRPr>
            </a:pPr>
            <a:r>
              <a:t>Projects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4968" y="5010912"/>
            <a:ext cx="3200400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A32"/>
                </a:solidFill>
                <a:latin typeface="Aptos"/>
              </a:defRPr>
            </a:pPr>
            <a:r>
              <a:t>Project, client, budget, dates, status, and department.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D7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" y="655624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27C"/>
                </a:solidFill>
                <a:latin typeface="Aptos"/>
              </a:defRPr>
            </a:pPr>
            <a:r>
              <a:t>Employee Management System | MySQL SQL Project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528816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27C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9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3050"/>
                </a:solidFill>
                <a:latin typeface="Aptos Display"/>
              </a:defRPr>
            </a:pPr>
            <a:r>
              <a:t>2. Problem Statement &amp; Need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27C"/>
                </a:solidFill>
                <a:latin typeface="Aptos"/>
              </a:defRPr>
            </a:pPr>
            <a:r>
              <a:t>Why a structured employee database is useful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6035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Employee and organizational data needs to be stored consistently.</a:t>
            </a:r>
          </a:p>
          <a:p>
            <a:pPr>
              <a:spcAft>
                <a:spcPts val="9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Departments, employees, managers, and projects must be connected through relationships.</a:t>
            </a:r>
          </a:p>
          <a:p>
            <a:pPr>
              <a:spcAft>
                <a:spcPts val="9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SQL queries should support reporting, filtering, aggregation, and analysis.</a:t>
            </a:r>
          </a:p>
          <a:p>
            <a:pPr>
              <a:spcAft>
                <a:spcPts val="9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The project provides a single database model for CRUD operations and reporting.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554480"/>
            <a:ext cx="33832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0" y="1554480"/>
            <a:ext cx="73152" cy="914400"/>
          </a:xfrm>
          <a:prstGeom prst="rect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16368" y="1719072"/>
            <a:ext cx="3017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3050"/>
                </a:solidFill>
                <a:latin typeface="Aptos"/>
              </a:defRPr>
            </a:pPr>
            <a:r>
              <a:t>DEPARTMENTS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16368" y="2130552"/>
            <a:ext cx="3017520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A32"/>
                </a:solidFill>
                <a:latin typeface="Aptos"/>
              </a:defRPr>
            </a:pPr>
            <a:r>
              <a:t>1 → many employees</a:t>
            </a:r>
            <a:br/>
            <a:r>
              <a:t>1 → many projects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3063240"/>
            <a:ext cx="33832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0" y="3063240"/>
            <a:ext cx="73152" cy="914400"/>
          </a:xfrm>
          <a:prstGeom prst="rect">
            <a:avLst/>
          </a:prstGeom>
          <a:solidFill>
            <a:srgbClr val="367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16368" y="3227832"/>
            <a:ext cx="3017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3050"/>
                </a:solidFill>
                <a:latin typeface="Aptos"/>
              </a:defRPr>
            </a:pPr>
            <a:r>
              <a:t>EMPLOYEES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16368" y="3639312"/>
            <a:ext cx="3017520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A32"/>
                </a:solidFill>
                <a:latin typeface="Aptos"/>
              </a:defRPr>
            </a:pPr>
            <a:r>
              <a:t>manager_id creates</a:t>
            </a:r>
            <a:br/>
            <a:r>
              <a:t>self-reference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4572000"/>
            <a:ext cx="33832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0" y="4572000"/>
            <a:ext cx="73152" cy="914400"/>
          </a:xfrm>
          <a:prstGeom prst="rect">
            <a:avLst/>
          </a:prstGeom>
          <a:solidFill>
            <a:srgbClr val="C47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16368" y="4736592"/>
            <a:ext cx="3017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3050"/>
                </a:solidFill>
                <a:latin typeface="Aptos"/>
              </a:defRPr>
            </a:pPr>
            <a:r>
              <a:t>PROJECTS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16368" y="5148072"/>
            <a:ext cx="3017520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A32"/>
                </a:solidFill>
                <a:latin typeface="Aptos"/>
              </a:defRPr>
            </a:pPr>
            <a:r>
              <a:t>department_id links</a:t>
            </a:r>
            <a:br/>
            <a:r>
              <a:t>to departments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006840" y="2468880"/>
            <a:ext cx="0" cy="594360"/>
          </a:xfrm>
          <a:prstGeom prst="line">
            <a:avLst/>
          </a:prstGeom>
          <a:ln w="19050">
            <a:solidFill>
              <a:srgbClr val="96A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006840" y="3977639"/>
            <a:ext cx="0" cy="594361"/>
          </a:xfrm>
          <a:prstGeom prst="line">
            <a:avLst/>
          </a:prstGeom>
          <a:ln w="19050">
            <a:solidFill>
              <a:srgbClr val="96A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D7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792" y="655624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27C"/>
                </a:solidFill>
                <a:latin typeface="Aptos"/>
              </a:defRPr>
            </a:pPr>
            <a:r>
              <a:t>Employee Management System | MySQL SQL Project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528816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27C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9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3050"/>
                </a:solidFill>
                <a:latin typeface="Aptos Display"/>
              </a:defRPr>
            </a:pPr>
            <a:r>
              <a:t>3.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27C"/>
                </a:solidFill>
                <a:latin typeface="Aptos"/>
              </a:defRPr>
            </a:pPr>
            <a:r>
              <a:t>Key goals of the SQL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1060704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325880"/>
            <a:ext cx="73152" cy="841248"/>
          </a:xfrm>
          <a:prstGeom prst="rect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8408" y="1490472"/>
            <a:ext cx="10241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3050"/>
                </a:solidFill>
                <a:latin typeface="Aptos"/>
              </a:defRPr>
            </a:pPr>
            <a:r>
              <a:t>1. Build a relational database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1901952"/>
            <a:ext cx="102412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A32"/>
                </a:solidFill>
                <a:latin typeface="Aptos"/>
              </a:defRPr>
            </a:pPr>
            <a:r>
              <a:t>Create and connect departments, employees, and projects.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267712"/>
            <a:ext cx="1060704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2267712"/>
            <a:ext cx="73152" cy="841248"/>
          </a:xfrm>
          <a:prstGeom prst="rect">
            <a:avLst/>
          </a:prstGeom>
          <a:solidFill>
            <a:srgbClr val="367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78408" y="2432304"/>
            <a:ext cx="10241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3050"/>
                </a:solidFill>
                <a:latin typeface="Aptos"/>
              </a:defRPr>
            </a:pPr>
            <a:r>
              <a:t>2. Apply SQL fundamentals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2843784"/>
            <a:ext cx="102412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A32"/>
                </a:solidFill>
                <a:latin typeface="Aptos"/>
              </a:defRPr>
            </a:pPr>
            <a:r>
              <a:t>Use DDL, DML, DQL, constraints, and aggregate functions.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209544"/>
            <a:ext cx="1060704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77240" y="3209544"/>
            <a:ext cx="73152" cy="841248"/>
          </a:xfrm>
          <a:prstGeom prst="rect">
            <a:avLst/>
          </a:prstGeom>
          <a:solidFill>
            <a:srgbClr val="C47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78408" y="3374136"/>
            <a:ext cx="10241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3050"/>
                </a:solidFill>
                <a:latin typeface="Aptos"/>
              </a:defRPr>
            </a:pPr>
            <a:r>
              <a:t>3. Perform advanced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3785615"/>
            <a:ext cx="102412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A32"/>
                </a:solidFill>
                <a:latin typeface="Aptos"/>
              </a:defRPr>
            </a:pPr>
            <a:r>
              <a:t>Use joins, subqueries, CTEs, CASE, and window functions.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151376"/>
            <a:ext cx="1060704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4151376"/>
            <a:ext cx="73152" cy="841248"/>
          </a:xfrm>
          <a:prstGeom prst="rect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78408" y="4315968"/>
            <a:ext cx="10241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3050"/>
                </a:solidFill>
                <a:latin typeface="Aptos"/>
              </a:defRPr>
            </a:pPr>
            <a:r>
              <a:t>4. Implement database features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4727448"/>
            <a:ext cx="102412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A32"/>
                </a:solidFill>
                <a:latin typeface="Aptos"/>
              </a:defRPr>
            </a:pPr>
            <a:r>
              <a:t>Use views, stored procedures, functions, transactions, and DCL.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093208"/>
            <a:ext cx="1060704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77240" y="5093208"/>
            <a:ext cx="73152" cy="841248"/>
          </a:xfrm>
          <a:prstGeom prst="rect">
            <a:avLst/>
          </a:prstGeom>
          <a:solidFill>
            <a:srgbClr val="367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78408" y="5257800"/>
            <a:ext cx="10241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3050"/>
                </a:solidFill>
                <a:latin typeface="Aptos"/>
              </a:defRPr>
            </a:pPr>
            <a:r>
              <a:t>5. Prepare for integration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" y="5669280"/>
            <a:ext cx="102412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A32"/>
                </a:solidFill>
                <a:latin typeface="Aptos"/>
              </a:defRPr>
            </a:pPr>
            <a:r>
              <a:t>Provide a database foundation for a Java JDBC application.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D7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1792" y="655624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27C"/>
                </a:solidFill>
                <a:latin typeface="Aptos"/>
              </a:defRPr>
            </a:pPr>
            <a:r>
              <a:t>Employee Management System | MySQL SQL Project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528816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27C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9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3050"/>
                </a:solidFill>
                <a:latin typeface="Aptos Display"/>
              </a:defRPr>
            </a:pPr>
            <a:r>
              <a:t>4. Database Design &amp; 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27C"/>
                </a:solidFill>
                <a:latin typeface="Aptos"/>
              </a:defRPr>
            </a:pPr>
            <a:r>
              <a:t>Three core tables with relational links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2461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73152" cy="3200400"/>
          </a:xfrm>
          <a:prstGeom prst="rect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581912"/>
            <a:ext cx="2880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3050"/>
                </a:solidFill>
                <a:latin typeface="Aptos"/>
              </a:defRPr>
            </a:pPr>
            <a:r>
              <a:t>departments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993392"/>
            <a:ext cx="2880360" cy="2487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A32"/>
                </a:solidFill>
                <a:latin typeface="Aptos"/>
              </a:defRPr>
            </a:pPr>
            <a:r>
              <a:t>department_id (PK)</a:t>
            </a:r>
            <a:br/>
            <a:r>
              <a:t>department_name</a:t>
            </a:r>
            <a:br/>
            <a:r>
              <a:t>location</a:t>
            </a:r>
            <a:br/>
            <a:r>
              <a:t>budget</a:t>
            </a:r>
            <a:br/>
            <a:r>
              <a:t>created_at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417320"/>
            <a:ext cx="32461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80560" y="1417320"/>
            <a:ext cx="73151" cy="3200400"/>
          </a:xfrm>
          <a:prstGeom prst="rect">
            <a:avLst/>
          </a:prstGeom>
          <a:solidFill>
            <a:srgbClr val="367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81728" y="1581912"/>
            <a:ext cx="2880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3050"/>
                </a:solidFill>
                <a:latin typeface="Aptos"/>
              </a:defRPr>
            </a:pPr>
            <a:r>
              <a:t>employees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1993392"/>
            <a:ext cx="2880360" cy="285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A32"/>
                </a:solidFill>
                <a:latin typeface="Aptos"/>
              </a:defRPr>
            </a:pPr>
            <a:r>
              <a:t>employee_id (PK)</a:t>
            </a:r>
            <a:br/>
            <a:r>
              <a:t>first_name / last_name</a:t>
            </a:r>
            <a:br/>
            <a:r>
              <a:t>email / phone</a:t>
            </a:r>
            <a:br/>
            <a:r>
              <a:t>salary / job_role</a:t>
            </a:r>
            <a:br/>
            <a:r>
              <a:t>experience / joining_date</a:t>
            </a:r>
            <a:br/>
            <a:r>
              <a:t>department_id (FK)</a:t>
            </a:r>
            <a:br/>
            <a:r>
              <a:t>manager_id (FK, self-reference)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417320"/>
            <a:ext cx="32461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75320" y="1417320"/>
            <a:ext cx="73152" cy="3200400"/>
          </a:xfrm>
          <a:prstGeom prst="rect">
            <a:avLst/>
          </a:prstGeom>
          <a:solidFill>
            <a:srgbClr val="C47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76488" y="1581912"/>
            <a:ext cx="2880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3050"/>
                </a:solidFill>
                <a:latin typeface="Aptos"/>
              </a:defRPr>
            </a:pPr>
            <a:r>
              <a:t>projects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6488" y="1993392"/>
            <a:ext cx="2880360" cy="2487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A32"/>
                </a:solidFill>
                <a:latin typeface="Aptos"/>
              </a:defRPr>
            </a:pPr>
            <a:r>
              <a:t>project_id (PK)</a:t>
            </a:r>
            <a:br/>
            <a:r>
              <a:t>project_name</a:t>
            </a:r>
            <a:br/>
            <a:r>
              <a:t>client_name</a:t>
            </a:r>
            <a:br/>
            <a:r>
              <a:t>budget</a:t>
            </a:r>
            <a:br/>
            <a:r>
              <a:t>start_date / end_date</a:t>
            </a:r>
            <a:br/>
            <a:r>
              <a:t>project_status</a:t>
            </a:r>
            <a:br/>
            <a:r>
              <a:t>department_id (FK)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931920" y="2743200"/>
            <a:ext cx="548640" cy="0"/>
          </a:xfrm>
          <a:prstGeom prst="line">
            <a:avLst/>
          </a:prstGeom>
          <a:ln w="25400">
            <a:solidFill>
              <a:srgbClr val="193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726679" y="2743200"/>
            <a:ext cx="548641" cy="0"/>
          </a:xfrm>
          <a:prstGeom prst="line">
            <a:avLst/>
          </a:prstGeom>
          <a:ln w="25400">
            <a:solidFill>
              <a:srgbClr val="193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85800" y="5093208"/>
            <a:ext cx="30175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85800" y="5093208"/>
            <a:ext cx="73152" cy="960120"/>
          </a:xfrm>
          <a:prstGeom prst="rect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6968" y="5257800"/>
            <a:ext cx="26517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3050"/>
                </a:solidFill>
                <a:latin typeface="Aptos"/>
              </a:defRPr>
            </a:pPr>
            <a:r>
              <a:t>Sample Departments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5669280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A32"/>
                </a:solidFill>
                <a:latin typeface="Aptos"/>
              </a:defRPr>
            </a:pPr>
            <a:r>
              <a:t>6 departments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60" y="5093208"/>
            <a:ext cx="30175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80560" y="5093208"/>
            <a:ext cx="73152" cy="960120"/>
          </a:xfrm>
          <a:prstGeom prst="rect">
            <a:avLst/>
          </a:prstGeom>
          <a:solidFill>
            <a:srgbClr val="367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81728" y="5257800"/>
            <a:ext cx="26517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3050"/>
                </a:solidFill>
                <a:latin typeface="Aptos"/>
              </a:defRPr>
            </a:pPr>
            <a:r>
              <a:t>Sample Employees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81728" y="5669280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A32"/>
                </a:solidFill>
                <a:latin typeface="Aptos"/>
              </a:defRPr>
            </a:pPr>
            <a:r>
              <a:t>25 employees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75320" y="5031657"/>
            <a:ext cx="30175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275320" y="5031657"/>
            <a:ext cx="73152" cy="960120"/>
          </a:xfrm>
          <a:prstGeom prst="rect">
            <a:avLst/>
          </a:prstGeom>
          <a:solidFill>
            <a:srgbClr val="C47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76488" y="5196249"/>
            <a:ext cx="26517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3050"/>
                </a:solidFill>
                <a:latin typeface="Aptos"/>
              </a:defRPr>
            </a:pPr>
            <a:r>
              <a:t>Sample Projects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76488" y="5607729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A32"/>
                </a:solidFill>
                <a:latin typeface="Aptos"/>
              </a:defRPr>
            </a:pPr>
            <a:r>
              <a:t>10 projects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D7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1792" y="655624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27C"/>
                </a:solidFill>
                <a:latin typeface="Aptos"/>
              </a:defRPr>
            </a:pPr>
            <a:r>
              <a:t>Employee Management System | MySQL SQL Project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528816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27C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9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3050"/>
                </a:solidFill>
                <a:latin typeface="Aptos Display"/>
              </a:defRPr>
            </a:pPr>
            <a:r>
              <a:t>5. SQL Concepts &amp;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27C"/>
                </a:solidFill>
                <a:latin typeface="Aptos"/>
              </a:defRPr>
            </a:pPr>
            <a:r>
              <a:t>From basic database operations to advanced SQL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2578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73152" cy="1143000"/>
          </a:xfrm>
          <a:prstGeom prst="rect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581912"/>
            <a:ext cx="4892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3050"/>
                </a:solidFill>
                <a:latin typeface="Aptos"/>
              </a:defRPr>
            </a:pPr>
            <a:r>
              <a:t>DDL &amp; Constraints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993392"/>
            <a:ext cx="48920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A32"/>
                </a:solidFill>
                <a:latin typeface="Aptos"/>
              </a:defRPr>
            </a:pPr>
            <a:r>
              <a:t>CREATE, ALTER, DROP, TRUNCATE</a:t>
            </a:r>
            <a:br/>
            <a:r>
              <a:t>PK, FK, UNIQUE, NOT NULL, DEFAULT, CHECK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2578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417320"/>
            <a:ext cx="73152" cy="1143000"/>
          </a:xfrm>
          <a:prstGeom prst="rect">
            <a:avLst/>
          </a:prstGeom>
          <a:solidFill>
            <a:srgbClr val="367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19088" y="1581912"/>
            <a:ext cx="4892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3050"/>
                </a:solidFill>
                <a:latin typeface="Aptos"/>
              </a:defRPr>
            </a:pPr>
            <a:r>
              <a:t>DML &amp; DQL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1993392"/>
            <a:ext cx="48920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A32"/>
                </a:solidFill>
                <a:latin typeface="Aptos"/>
              </a:defRPr>
            </a:pPr>
            <a:r>
              <a:t>INSERT, UPDATE, DELETE</a:t>
            </a:r>
            <a:br/>
            <a:r>
              <a:t>SELECT, WHERE, ORDER BY, LIMIT, DISTINCT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926080"/>
            <a:ext cx="52578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2926080"/>
            <a:ext cx="73152" cy="1143000"/>
          </a:xfrm>
          <a:prstGeom prst="rect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6968" y="3090672"/>
            <a:ext cx="4892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3050"/>
                </a:solidFill>
                <a:latin typeface="Aptos"/>
              </a:defRPr>
            </a:pPr>
            <a:r>
              <a:t>Joins &amp; Subqueries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502152"/>
            <a:ext cx="48920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A32"/>
                </a:solidFill>
                <a:latin typeface="Aptos"/>
              </a:defRPr>
            </a:pPr>
            <a:r>
              <a:t>INNER/LEFT/RIGHT/CROSS/SELF JOIN</a:t>
            </a:r>
            <a:br/>
            <a:r>
              <a:t>Subqueries, correlated queries, EXISTS, ANY, ALL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926080"/>
            <a:ext cx="52578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2926080"/>
            <a:ext cx="73152" cy="1143000"/>
          </a:xfrm>
          <a:prstGeom prst="rect">
            <a:avLst/>
          </a:prstGeom>
          <a:solidFill>
            <a:srgbClr val="367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19088" y="3090672"/>
            <a:ext cx="4892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3050"/>
                </a:solidFill>
                <a:latin typeface="Aptos"/>
              </a:defRPr>
            </a:pPr>
            <a:r>
              <a:t>Advanced Queries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3502152"/>
            <a:ext cx="48920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A32"/>
                </a:solidFill>
                <a:latin typeface="Aptos"/>
              </a:defRPr>
            </a:pPr>
            <a:r>
              <a:t>UNION, CASE, COALESCE, CTEs</a:t>
            </a:r>
            <a:br/>
            <a:r>
              <a:t>GROUP BY, HAVING, window functions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434840"/>
            <a:ext cx="52578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85800" y="4434840"/>
            <a:ext cx="73152" cy="1143000"/>
          </a:xfrm>
          <a:prstGeom prst="rect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86968" y="4599431"/>
            <a:ext cx="4892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3050"/>
                </a:solidFill>
                <a:latin typeface="Aptos"/>
              </a:defRPr>
            </a:pPr>
            <a:r>
              <a:t>Database Programming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5010912"/>
            <a:ext cx="48920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A32"/>
                </a:solidFill>
                <a:latin typeface="Aptos"/>
              </a:defRPr>
            </a:pPr>
            <a:r>
              <a:t>Views, stored procedures, stored function</a:t>
            </a:r>
            <a:br/>
            <a:r>
              <a:t>Transactions with COMMIT, ROLLBACK, SAVEPOINT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4434840"/>
            <a:ext cx="52578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17920" y="4434840"/>
            <a:ext cx="73152" cy="1143000"/>
          </a:xfrm>
          <a:prstGeom prst="rect">
            <a:avLst/>
          </a:prstGeom>
          <a:solidFill>
            <a:srgbClr val="367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19088" y="4599431"/>
            <a:ext cx="4892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3050"/>
                </a:solidFill>
                <a:latin typeface="Aptos"/>
              </a:defRPr>
            </a:pPr>
            <a:r>
              <a:t>Access Control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9088" y="5010912"/>
            <a:ext cx="48920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A32"/>
                </a:solidFill>
                <a:latin typeface="Aptos"/>
              </a:defRPr>
            </a:pPr>
            <a:r>
              <a:t>DCL with CREATE USER, GRANT, and REVOKE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D7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1792" y="655624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27C"/>
                </a:solidFill>
                <a:latin typeface="Aptos"/>
              </a:defRPr>
            </a:pPr>
            <a:r>
              <a:t>Employee Management System | MySQL SQL Project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528816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27C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9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3050"/>
                </a:solidFill>
                <a:latin typeface="Aptos Display"/>
              </a:defRPr>
            </a:pPr>
            <a:r>
              <a:t>6. Key Features &amp; Reports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27C"/>
                </a:solidFill>
                <a:latin typeface="Aptos"/>
              </a:defRPr>
            </a:pPr>
            <a:r>
              <a:t>Examples of practical SQL analysis in the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24231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490472"/>
            <a:ext cx="2240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3465A4"/>
                </a:solidFill>
                <a:latin typeface="Aptos Display"/>
              </a:defRPr>
            </a:pPr>
            <a: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2240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9727C"/>
                </a:solidFill>
                <a:latin typeface="Aptos"/>
              </a:defRPr>
            </a:pPr>
            <a:r>
              <a:t>Employees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325880"/>
            <a:ext cx="24231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367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66160" y="1490472"/>
            <a:ext cx="2240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367D58"/>
                </a:solidFill>
                <a:latin typeface="Aptos Display"/>
              </a:defRPr>
            </a:pPr>
            <a:r>
              <a:t>₹16.8L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920240"/>
            <a:ext cx="2240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9727C"/>
                </a:solidFill>
                <a:latin typeface="Aptos"/>
              </a:defRPr>
            </a:pPr>
            <a:r>
              <a:t>Total salary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325880"/>
            <a:ext cx="24231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47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79" y="1490472"/>
            <a:ext cx="2240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C47B30"/>
                </a:solidFill>
                <a:latin typeface="Aptos Display"/>
              </a:defRPr>
            </a:pPr>
            <a:r>
              <a:t>₹67,200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79" y="1920240"/>
            <a:ext cx="2240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9727C"/>
                </a:solidFill>
                <a:latin typeface="Aptos"/>
              </a:defRPr>
            </a:pPr>
            <a:r>
              <a:t>Average salary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59" y="1325880"/>
            <a:ext cx="24231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3999" y="1490472"/>
            <a:ext cx="2240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3465A4"/>
                </a:solidFill>
                <a:latin typeface="Aptos Display"/>
              </a:defRPr>
            </a:pPr>
            <a:r>
              <a:t>₹1.25L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3999" y="1920240"/>
            <a:ext cx="2240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9727C"/>
                </a:solidFill>
                <a:latin typeface="Aptos"/>
              </a:defRPr>
            </a:pPr>
            <a:r>
              <a:t>Highest salary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31520" y="2788920"/>
          <a:ext cx="658368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760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Department</a:t>
                      </a:r>
                    </a:p>
                  </a:txBody>
                  <a:tcPr>
                    <a:solidFill>
                      <a:srgbClr val="193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Employees</a:t>
                      </a:r>
                    </a:p>
                  </a:txBody>
                  <a:tcPr>
                    <a:solidFill>
                      <a:srgbClr val="193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Avg. Salary</a:t>
                      </a:r>
                    </a:p>
                  </a:txBody>
                  <a:tcPr>
                    <a:solidFill>
                      <a:srgbClr val="193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Max Salary</a:t>
                      </a:r>
                    </a:p>
                  </a:txBody>
                  <a:tcPr>
                    <a:solidFill>
                      <a:srgbClr val="193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760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88,666.67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125,000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760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HR</a:t>
                      </a:r>
                    </a:p>
                  </a:txBody>
                  <a:tcPr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58,000</a:t>
                      </a:r>
                    </a:p>
                  </a:txBody>
                  <a:tcPr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70,000</a:t>
                      </a:r>
                    </a:p>
                  </a:txBody>
                  <a:tcPr>
                    <a:solidFill>
                      <a:srgbClr val="E8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760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Finance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70,250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91,000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760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Sales</a:t>
                      </a:r>
                    </a:p>
                  </a:txBody>
                  <a:tcPr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53,800</a:t>
                      </a:r>
                    </a:p>
                  </a:txBody>
                  <a:tcPr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72,000</a:t>
                      </a:r>
                    </a:p>
                  </a:txBody>
                  <a:tcPr>
                    <a:solidFill>
                      <a:srgbClr val="E8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760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Marketing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55,666.67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68,000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761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Operations</a:t>
                      </a:r>
                    </a:p>
                  </a:txBody>
                  <a:tcPr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66,333.33</a:t>
                      </a:r>
                    </a:p>
                  </a:txBody>
                  <a:tcPr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88,000</a:t>
                      </a:r>
                    </a:p>
                  </a:txBody>
                  <a:tcPr>
                    <a:solidFill>
                      <a:srgbClr val="E8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7635240" y="2788920"/>
            <a:ext cx="37033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635240" y="2788920"/>
            <a:ext cx="73152" cy="1325880"/>
          </a:xfrm>
          <a:prstGeom prst="rect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36408" y="2953512"/>
            <a:ext cx="33375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3050"/>
                </a:solidFill>
                <a:latin typeface="Aptos"/>
              </a:defRPr>
            </a:pPr>
            <a:r>
              <a:t>Analytical Queries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36408" y="3364991"/>
            <a:ext cx="3337560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A32"/>
                </a:solidFill>
                <a:latin typeface="Aptos"/>
              </a:defRPr>
            </a:pPr>
            <a:r>
              <a:t>GROUP BY + HAVING, joins, subqueries, CTEs, and window functions.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35240" y="4315968"/>
            <a:ext cx="37033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635240" y="4315968"/>
            <a:ext cx="73152" cy="1325880"/>
          </a:xfrm>
          <a:prstGeom prst="rect">
            <a:avLst/>
          </a:prstGeom>
          <a:solidFill>
            <a:srgbClr val="367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836408" y="4480559"/>
            <a:ext cx="33375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3050"/>
                </a:solidFill>
                <a:latin typeface="Aptos"/>
              </a:defRPr>
            </a:pPr>
            <a:r>
              <a:t>Reusable Database Logic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36408" y="4892040"/>
            <a:ext cx="3337560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A32"/>
                </a:solidFill>
                <a:latin typeface="Aptos"/>
              </a:defRPr>
            </a:pPr>
            <a:r>
              <a:t>Views, stored procedures, annual_salary() function, and transaction control.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D7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1792" y="655624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27C"/>
                </a:solidFill>
                <a:latin typeface="Aptos"/>
              </a:defRPr>
            </a:pPr>
            <a:r>
              <a:t>Employee Management System | MySQL SQL Project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528816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27C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9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3050"/>
                </a:solidFill>
                <a:latin typeface="Aptos Display"/>
              </a:defRPr>
            </a:pPr>
            <a:r>
              <a:t>7. Results &amp;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27C"/>
                </a:solidFill>
                <a:latin typeface="Aptos"/>
              </a:defRPr>
            </a:pPr>
            <a:r>
              <a:t>Representative results from the supplied sample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6675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50">
                <a:solidFill>
                  <a:srgbClr val="232A32"/>
                </a:solidFill>
                <a:latin typeface="Aptos"/>
              </a:defRPr>
            </a:pPr>
            <a:r>
              <a:t>The database contains 25 employees across 6 departments and 10 projects.</a:t>
            </a:r>
          </a:p>
          <a:p>
            <a:pPr>
              <a:spcAft>
                <a:spcPts val="900"/>
              </a:spcAft>
              <a:defRPr sz="1650">
                <a:solidFill>
                  <a:srgbClr val="232A32"/>
                </a:solidFill>
                <a:latin typeface="Aptos"/>
              </a:defRPr>
            </a:pPr>
            <a:r>
              <a:t>IT has the largest employee count with 6 employees and the highest average salary at ₹88,666.67.</a:t>
            </a:r>
          </a:p>
          <a:p>
            <a:pPr>
              <a:spcAft>
                <a:spcPts val="900"/>
              </a:spcAft>
              <a:defRPr sz="1650">
                <a:solidFill>
                  <a:srgbClr val="232A32"/>
                </a:solidFill>
                <a:latin typeface="Aptos"/>
              </a:defRPr>
            </a:pPr>
            <a:r>
              <a:t>Sanjay Pillai has the highest salary at ₹125,000, followed by Ananya Gupta at ₹110,000.</a:t>
            </a:r>
          </a:p>
          <a:p>
            <a:pPr>
              <a:spcAft>
                <a:spcPts val="900"/>
              </a:spcAft>
              <a:defRPr sz="1650">
                <a:solidFill>
                  <a:srgbClr val="232A32"/>
                </a:solidFill>
                <a:latin typeface="Aptos"/>
              </a:defRPr>
            </a:pPr>
            <a:r>
              <a:t>Department reporting combines employee count, total salary, average salary, minimum salary, and maximum salary.</a:t>
            </a:r>
          </a:p>
          <a:p>
            <a:pPr>
              <a:spcAft>
                <a:spcPts val="900"/>
              </a:spcAft>
              <a:defRPr sz="1650">
                <a:solidFill>
                  <a:srgbClr val="232A32"/>
                </a:solidFill>
                <a:latin typeface="Aptos"/>
              </a:defRPr>
            </a:pPr>
            <a:r>
              <a:t>Project budget reporting shows the highest total project budget in IT at ₹82,00,000.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26679" y="1417320"/>
            <a:ext cx="34747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26679" y="1417320"/>
            <a:ext cx="73152" cy="1325880"/>
          </a:xfrm>
          <a:prstGeom prst="rect">
            <a:avLst/>
          </a:prstGeom>
          <a:solidFill>
            <a:srgbClr val="C47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27848" y="1581912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3050"/>
                </a:solidFill>
                <a:latin typeface="Aptos"/>
              </a:defRPr>
            </a:pPr>
            <a:r>
              <a:t>Top Salary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7848" y="1993392"/>
            <a:ext cx="3108960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A32"/>
                </a:solidFill>
                <a:latin typeface="Aptos"/>
              </a:defRPr>
            </a:pPr>
            <a:r>
              <a:t>Sanjay Pillai</a:t>
            </a:r>
            <a:br/>
            <a:r>
              <a:t>₹125,000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2971800"/>
            <a:ext cx="34747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726679" y="2971800"/>
            <a:ext cx="73152" cy="1325880"/>
          </a:xfrm>
          <a:prstGeom prst="rect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27848" y="3136392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3050"/>
                </a:solidFill>
                <a:latin typeface="Aptos"/>
              </a:defRPr>
            </a:pPr>
            <a:r>
              <a:t>Top Average Salary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7848" y="3547872"/>
            <a:ext cx="3108960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A32"/>
                </a:solidFill>
                <a:latin typeface="Aptos"/>
              </a:defRPr>
            </a:pPr>
            <a:r>
              <a:t>IT</a:t>
            </a:r>
            <a:br/>
            <a:r>
              <a:t>₹88,666.67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4526280"/>
            <a:ext cx="34747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726679" y="4526280"/>
            <a:ext cx="73152" cy="1325880"/>
          </a:xfrm>
          <a:prstGeom prst="rect">
            <a:avLst/>
          </a:prstGeom>
          <a:solidFill>
            <a:srgbClr val="367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27848" y="4690872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3050"/>
                </a:solidFill>
                <a:latin typeface="Aptos"/>
              </a:defRPr>
            </a:pPr>
            <a:r>
              <a:t>Top Project Budget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7848" y="5102352"/>
            <a:ext cx="3108960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A32"/>
                </a:solidFill>
                <a:latin typeface="Aptos"/>
              </a:defRPr>
            </a:pPr>
            <a:r>
              <a:t>IT</a:t>
            </a:r>
            <a:br/>
            <a:r>
              <a:t>₹82,00,000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D7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" y="655624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27C"/>
                </a:solidFill>
                <a:latin typeface="Aptos"/>
              </a:defRPr>
            </a:pPr>
            <a:r>
              <a:t>Employee Management System | MySQL SQL Project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528816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27C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9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3050"/>
                </a:solidFill>
                <a:latin typeface="Aptos Display"/>
              </a:defRPr>
            </a:pPr>
            <a:r>
              <a:t>8. Conclusion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27C"/>
                </a:solidFill>
                <a:latin typeface="Aptos"/>
              </a:defRPr>
            </a:pPr>
            <a:r>
              <a:t>Summary of the project and next step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1208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73152" cy="3977639"/>
          </a:xfrm>
          <a:prstGeom prst="rect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581912"/>
            <a:ext cx="4846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3050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993392"/>
            <a:ext cx="4846320" cy="3264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A32"/>
                </a:solidFill>
                <a:latin typeface="Aptos"/>
              </a:defRPr>
            </a:pPr>
            <a:r>
              <a:t>The project demonstrates a complete MySQL-based Employee Management System with relational design, sample data, SQL querying, reporting, reusable database logic, transactions, and access control.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21208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73152" cy="3977639"/>
          </a:xfrm>
          <a:prstGeom prst="rect">
            <a:avLst/>
          </a:prstGeom>
          <a:solidFill>
            <a:srgbClr val="367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64807" y="1581912"/>
            <a:ext cx="4846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3050"/>
                </a:solidFill>
                <a:latin typeface="Aptos"/>
              </a:defRPr>
            </a:pPr>
            <a:r>
              <a:t>Future Scope: JDBC Integration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7" y="1993392"/>
            <a:ext cx="4846320" cy="3264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A32"/>
                </a:solidFill>
                <a:latin typeface="Aptos"/>
              </a:defRPr>
            </a:pPr>
            <a:r>
              <a:t>The database can be connected to a Java application using:</a:t>
            </a:r>
            <a:br/>
            <a:br/>
            <a:r>
              <a:t>• Statement for fixed SQL</a:t>
            </a:r>
            <a:br/>
            <a:r>
              <a:t>• PreparedStatement for parameterized CRUD/search</a:t>
            </a:r>
            <a:br/>
            <a:r>
              <a:t>• CallableStatement for stored procedures</a:t>
            </a:r>
            <a:br/>
            <a:br/>
            <a:r>
              <a:t>Planned layers include DBConnection, DAO classes, EmployeeService, and Main.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5715000"/>
            <a:ext cx="6492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93050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D7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" y="655624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27C"/>
                </a:solidFill>
                <a:latin typeface="Aptos"/>
              </a:defRPr>
            </a:pPr>
            <a:r>
              <a:t>Employee Management System | MySQL SQL 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528816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27C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926</Words>
  <Application>Microsoft Office PowerPoint</Application>
  <PresentationFormat>Widescreen</PresentationFormat>
  <Paragraphs>152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KUSHAL K</cp:lastModifiedBy>
  <cp:revision>2</cp:revision>
  <dcterms:created xsi:type="dcterms:W3CDTF">2013-01-27T09:14:16Z</dcterms:created>
  <dcterms:modified xsi:type="dcterms:W3CDTF">2026-10-05T14:36:45Z</dcterms:modified>
  <cp:category/>
</cp:coreProperties>
</file>